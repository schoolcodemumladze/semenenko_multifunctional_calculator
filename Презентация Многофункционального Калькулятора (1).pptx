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6858000" cy="9144000"/>
  <p:embeddedFontLst>
    <p:embeddedFont>
      <p:font typeface="Comfortaa SemiBold"/>
      <p:regular r:id="rId15"/>
      <p:bold r:id="rId16"/>
    </p:embeddedFont>
    <p:embeddedFont>
      <p:font typeface="Montserrat Black"/>
      <p:bold r:id="rId17"/>
      <p:boldItalic r:id="rId18"/>
    </p:embeddedFont>
    <p:embeddedFont>
      <p:font typeface="Comfortaa"/>
      <p:regular r:id="rId19"/>
      <p:bold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Comfortaa-bold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ComfortaaSemiBold-regular.fntdata"/><Relationship Id="rId14" Type="http://schemas.openxmlformats.org/officeDocument/2006/relationships/slide" Target="slides/slide9.xml"/><Relationship Id="rId17" Type="http://schemas.openxmlformats.org/officeDocument/2006/relationships/font" Target="fonts/MontserratBlack-bold.fntdata"/><Relationship Id="rId16" Type="http://schemas.openxmlformats.org/officeDocument/2006/relationships/font" Target="fonts/ComfortaaSemiBold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Comfortaa-regular.fntdata"/><Relationship Id="rId6" Type="http://schemas.openxmlformats.org/officeDocument/2006/relationships/slide" Target="slides/slide1.xml"/><Relationship Id="rId18" Type="http://schemas.openxmlformats.org/officeDocument/2006/relationships/font" Target="fonts/MontserratBlack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92efe01e2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92efe01e2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652d6706a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652d6706a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b652d6706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b652d6706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b652d6706a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b652d6706a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652d6706a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b652d6706a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652d6706a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b652d6706a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b652d6706a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b652d6706a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b652d6706a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b652d6706a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73900" y="583850"/>
            <a:ext cx="8971500" cy="3948000"/>
          </a:xfrm>
          <a:prstGeom prst="rect">
            <a:avLst/>
          </a:prstGeom>
          <a:ln cap="flat" cmpd="sng" w="9525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>
    <p:fade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0500" y="0"/>
            <a:ext cx="5143502" cy="51435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24925" y="0"/>
            <a:ext cx="2685950" cy="2492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-24925" y="2457550"/>
            <a:ext cx="2685950" cy="268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ctrTitle"/>
          </p:nvPr>
        </p:nvSpPr>
        <p:spPr>
          <a:xfrm>
            <a:off x="3193799" y="66525"/>
            <a:ext cx="2756400" cy="44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90"/>
              <a:buFont typeface="Arial"/>
              <a:buNone/>
            </a:pPr>
            <a:r>
              <a:rPr lang="ru" sz="2400">
                <a:latin typeface="Montserrat Black"/>
                <a:ea typeface="Montserrat Black"/>
                <a:cs typeface="Montserrat Black"/>
                <a:sym typeface="Montserrat Black"/>
              </a:rPr>
              <a:t>Знакомство</a:t>
            </a:r>
            <a:endParaRPr sz="2400"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62" name="Google Shape;62;p14"/>
          <p:cNvSpPr txBox="1"/>
          <p:nvPr>
            <p:ph idx="1" type="subTitle"/>
          </p:nvPr>
        </p:nvSpPr>
        <p:spPr>
          <a:xfrm>
            <a:off x="-75" y="509925"/>
            <a:ext cx="9144000" cy="2601300"/>
          </a:xfrm>
          <a:prstGeom prst="rect">
            <a:avLst/>
          </a:prstGeom>
          <a:noFill/>
          <a:ln cap="flat" cmpd="sng" w="28575">
            <a:solidFill>
              <a:srgbClr val="FFFF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2400">
                <a:latin typeface="Comfortaa"/>
                <a:ea typeface="Comfortaa"/>
                <a:cs typeface="Comfortaa"/>
                <a:sym typeface="Comfortaa"/>
              </a:rPr>
              <a:t>Меня зовут </a:t>
            </a:r>
            <a:r>
              <a:rPr lang="ru" sz="2400">
                <a:latin typeface="Comfortaa"/>
                <a:ea typeface="Comfortaa"/>
                <a:cs typeface="Comfortaa"/>
                <a:sym typeface="Comfortaa"/>
              </a:rPr>
              <a:t>Семененко Савелий Витальевич.</a:t>
            </a:r>
            <a:endParaRPr sz="2400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2400">
                <a:latin typeface="Comfortaa"/>
                <a:ea typeface="Comfortaa"/>
                <a:cs typeface="Comfortaa"/>
                <a:sym typeface="Comfortaa"/>
              </a:rPr>
              <a:t>Я разрабатываю проект с незамудрёным названием - </a:t>
            </a:r>
            <a:endParaRPr b="1" sz="2400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>
                <a:latin typeface="Comfortaa"/>
                <a:ea typeface="Comfortaa"/>
                <a:cs typeface="Comfortaa"/>
                <a:sym typeface="Comfortaa"/>
              </a:rPr>
              <a:t>Многофункциональный Калькулятор</a:t>
            </a:r>
            <a:r>
              <a:rPr b="1" lang="ru" sz="2400">
                <a:latin typeface="Comfortaa"/>
                <a:ea typeface="Comfortaa"/>
                <a:cs typeface="Comfortaa"/>
                <a:sym typeface="Comfortaa"/>
              </a:rPr>
              <a:t>.</a:t>
            </a:r>
            <a:endParaRPr b="1" sz="2400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2400">
                <a:latin typeface="Comfortaa"/>
                <a:ea typeface="Comfortaa"/>
                <a:cs typeface="Comfortaa"/>
                <a:sym typeface="Comfortaa"/>
              </a:rPr>
              <a:t>Мне 12 лет.</a:t>
            </a:r>
            <a:endParaRPr b="1" sz="2400"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11651" y="3111225"/>
            <a:ext cx="2032275" cy="2032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97400" y="36950"/>
            <a:ext cx="2749200" cy="62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2400">
                <a:latin typeface="Montserrat Black"/>
                <a:ea typeface="Montserrat Black"/>
                <a:cs typeface="Montserrat Black"/>
                <a:sym typeface="Montserrat Black"/>
              </a:rPr>
              <a:t>Цели проекта</a:t>
            </a:r>
            <a:endParaRPr sz="2400"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0" y="525825"/>
            <a:ext cx="9144000" cy="2676000"/>
          </a:xfrm>
          <a:prstGeom prst="rect">
            <a:avLst/>
          </a:prstGeom>
          <a:ln cap="flat" cmpd="sng" w="285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Цели проекта: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Font typeface="Comfortaa"/>
              <a:buChar char="-"/>
            </a:pP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Написать как можно больше полезных функций и собрать их в одной программе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Comfortaa"/>
              <a:buChar char="-"/>
            </a:pP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Показать возможности </a:t>
            </a:r>
            <a:r>
              <a:rPr lang="ru">
                <a:latin typeface="Comfortaa"/>
                <a:ea typeface="Comfortaa"/>
                <a:cs typeface="Comfortaa"/>
                <a:sym typeface="Comfortaa"/>
              </a:rPr>
              <a:t>Python </a:t>
            </a: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в работе с числами и текстом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Программа может применяться в самых различных случаях, например, решить часть ДЗ или помочь в работе взрослых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70" name="Google Shape;7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02325" y="3201825"/>
            <a:ext cx="1941676" cy="1941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1412875" y="0"/>
            <a:ext cx="6235800" cy="54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latin typeface="Montserrat Black"/>
                <a:ea typeface="Montserrat Black"/>
                <a:cs typeface="Montserrat Black"/>
                <a:sym typeface="Montserrat Black"/>
              </a:rPr>
              <a:t>Python и Многофункциональный Калькулятор</a:t>
            </a:r>
            <a:endParaRPr sz="1800"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6" name="Google Shape;76;p16"/>
          <p:cNvSpPr txBox="1"/>
          <p:nvPr>
            <p:ph idx="1" type="body"/>
          </p:nvPr>
        </p:nvSpPr>
        <p:spPr>
          <a:xfrm>
            <a:off x="25" y="506725"/>
            <a:ext cx="9144000" cy="2545500"/>
          </a:xfrm>
          <a:prstGeom prst="rect">
            <a:avLst/>
          </a:prstGeom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Для написания программы были использованы многие инструменты </a:t>
            </a:r>
            <a:r>
              <a:rPr lang="ru">
                <a:latin typeface="Comfortaa"/>
                <a:ea typeface="Comfortaa"/>
                <a:cs typeface="Comfortaa"/>
                <a:sym typeface="Comfortaa"/>
              </a:rPr>
              <a:t>Python</a:t>
            </a: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, например: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Font typeface="Comfortaa"/>
              <a:buChar char="-"/>
            </a:pPr>
            <a:r>
              <a:rPr lang="ru">
                <a:latin typeface="Comfortaa"/>
                <a:ea typeface="Comfortaa"/>
                <a:cs typeface="Comfortaa"/>
                <a:sym typeface="Comfortaa"/>
              </a:rPr>
              <a:t>def()</a:t>
            </a: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 для отделения функций в коде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Comfortaa"/>
              <a:buChar char="-"/>
            </a:pP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оператор </a:t>
            </a:r>
            <a:r>
              <a:rPr lang="ru">
                <a:latin typeface="Comfortaa"/>
                <a:ea typeface="Comfortaa"/>
                <a:cs typeface="Comfortaa"/>
                <a:sym typeface="Comfortaa"/>
              </a:rPr>
              <a:t>if</a:t>
            </a: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 для написания разных операций в основных функциях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Comfortaa"/>
              <a:buChar char="-"/>
            </a:pP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библиотеки </a:t>
            </a:r>
            <a:r>
              <a:rPr lang="ru">
                <a:latin typeface="Comfortaa"/>
                <a:ea typeface="Comfortaa"/>
                <a:cs typeface="Comfortaa"/>
                <a:sym typeface="Comfortaa"/>
              </a:rPr>
              <a:t>math </a:t>
            </a: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и </a:t>
            </a:r>
            <a:r>
              <a:rPr lang="ru">
                <a:latin typeface="Comfortaa"/>
                <a:ea typeface="Comfortaa"/>
                <a:cs typeface="Comfortaa"/>
                <a:sym typeface="Comfortaa"/>
              </a:rPr>
              <a:t>random </a:t>
            </a: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для отдельных функций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Comfortaa"/>
              <a:buChar char="-"/>
            </a:pP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базовые функции (</a:t>
            </a:r>
            <a:r>
              <a:rPr lang="ru">
                <a:latin typeface="Comfortaa"/>
                <a:ea typeface="Comfortaa"/>
                <a:cs typeface="Comfortaa"/>
                <a:sym typeface="Comfortaa"/>
              </a:rPr>
              <a:t>input()</a:t>
            </a: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, </a:t>
            </a:r>
            <a:r>
              <a:rPr lang="ru">
                <a:latin typeface="Comfortaa"/>
                <a:ea typeface="Comfortaa"/>
                <a:cs typeface="Comfortaa"/>
                <a:sym typeface="Comfortaa"/>
              </a:rPr>
              <a:t>print()</a:t>
            </a: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 и т.д.)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Comfortaa"/>
              <a:buChar char="-"/>
            </a:pP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и ещё много всего :)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77" name="Google Shape;7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2725" y="3052225"/>
            <a:ext cx="2091275" cy="209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title"/>
          </p:nvPr>
        </p:nvSpPr>
        <p:spPr>
          <a:xfrm>
            <a:off x="2720850" y="-59100"/>
            <a:ext cx="3702300" cy="49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latin typeface="Montserrat Black"/>
                <a:ea typeface="Montserrat Black"/>
                <a:cs typeface="Montserrat Black"/>
                <a:sym typeface="Montserrat Black"/>
              </a:rPr>
              <a:t>Примеры кода программы</a:t>
            </a:r>
            <a:endParaRPr sz="1800"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83" name="Google Shape;83;p17"/>
          <p:cNvSpPr txBox="1"/>
          <p:nvPr>
            <p:ph idx="1" type="body"/>
          </p:nvPr>
        </p:nvSpPr>
        <p:spPr>
          <a:xfrm>
            <a:off x="2902900" y="342800"/>
            <a:ext cx="5521800" cy="6033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SzPts val="688"/>
              <a:buNone/>
            </a:pPr>
            <a:r>
              <a:rPr lang="ru" sz="1400">
                <a:latin typeface="Comfortaa SemiBold"/>
                <a:ea typeface="Comfortaa SemiBold"/>
                <a:cs typeface="Comfortaa SemiBold"/>
                <a:sym typeface="Comfortaa SemiBold"/>
              </a:rPr>
              <a:t>Функция Операции с числами (1). Базовая функция для проекта</a:t>
            </a:r>
            <a:endParaRPr sz="1400">
              <a:latin typeface="Comfortaa SemiBold"/>
              <a:ea typeface="Comfortaa SemiBold"/>
              <a:cs typeface="Comfortaa SemiBold"/>
              <a:sym typeface="Comfortaa SemiBold"/>
            </a:endParaRPr>
          </a:p>
        </p:txBody>
      </p:sp>
      <p:pic>
        <p:nvPicPr>
          <p:cNvPr id="84" name="Google Shape;8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42800"/>
            <a:ext cx="2902899" cy="3504026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7"/>
          <p:cNvSpPr txBox="1"/>
          <p:nvPr/>
        </p:nvSpPr>
        <p:spPr>
          <a:xfrm>
            <a:off x="0" y="4804800"/>
            <a:ext cx="4155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2"/>
              </a:solidFill>
            </a:endParaRPr>
          </a:p>
        </p:txBody>
      </p:sp>
      <p:pic>
        <p:nvPicPr>
          <p:cNvPr id="86" name="Google Shape;86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84850" y="1071713"/>
            <a:ext cx="3599725" cy="3696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7"/>
          <p:cNvSpPr txBox="1"/>
          <p:nvPr/>
        </p:nvSpPr>
        <p:spPr>
          <a:xfrm>
            <a:off x="6591950" y="946100"/>
            <a:ext cx="25524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2"/>
                </a:solidFill>
                <a:latin typeface="Comfortaa SemiBold"/>
                <a:ea typeface="Comfortaa SemiBold"/>
                <a:cs typeface="Comfortaa SemiBold"/>
                <a:sym typeface="Comfortaa SemiBold"/>
              </a:rPr>
              <a:t>Функция Вычисление длины строки (5), самая короткая</a:t>
            </a:r>
            <a:endParaRPr>
              <a:solidFill>
                <a:schemeClr val="dk2"/>
              </a:solidFill>
              <a:latin typeface="Comfortaa SemiBold"/>
              <a:ea typeface="Comfortaa SemiBold"/>
              <a:cs typeface="Comfortaa SemiBold"/>
              <a:sym typeface="Comfortaa SemiBold"/>
            </a:endParaRPr>
          </a:p>
        </p:txBody>
      </p:sp>
      <p:pic>
        <p:nvPicPr>
          <p:cNvPr id="88" name="Google Shape;88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84850" y="2179500"/>
            <a:ext cx="3959700" cy="296399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/>
          <p:nvPr/>
        </p:nvSpPr>
        <p:spPr>
          <a:xfrm>
            <a:off x="6944550" y="2076025"/>
            <a:ext cx="20547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2"/>
                </a:solidFill>
                <a:latin typeface="Comfortaa SemiBold"/>
                <a:ea typeface="Comfortaa SemiBold"/>
                <a:cs typeface="Comfortaa SemiBold"/>
                <a:sym typeface="Comfortaa SemiBold"/>
              </a:rPr>
              <a:t>Функция Операции с дробями (13). </a:t>
            </a:r>
            <a:endParaRPr>
              <a:solidFill>
                <a:schemeClr val="dk2"/>
              </a:solidFill>
              <a:latin typeface="Comfortaa SemiBold"/>
              <a:ea typeface="Comfortaa SemiBold"/>
              <a:cs typeface="Comfortaa SemiBold"/>
              <a:sym typeface="Comfortaa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2"/>
                </a:solidFill>
                <a:latin typeface="Comfortaa SemiBold"/>
                <a:ea typeface="Comfortaa SemiBold"/>
                <a:cs typeface="Comfortaa SemiBold"/>
                <a:sym typeface="Comfortaa SemiBold"/>
              </a:rPr>
              <a:t>Является самой длинной, насчитывает 40 строк кода</a:t>
            </a:r>
            <a:endParaRPr>
              <a:solidFill>
                <a:schemeClr val="dk2"/>
              </a:solidFill>
              <a:latin typeface="Comfortaa SemiBold"/>
              <a:ea typeface="Comfortaa SemiBold"/>
              <a:cs typeface="Comfortaa SemiBold"/>
              <a:sym typeface="Comfortaa Semi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2312950" y="0"/>
            <a:ext cx="4301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latin typeface="Montserrat Black"/>
                <a:ea typeface="Montserrat Black"/>
                <a:cs typeface="Montserrat Black"/>
                <a:sym typeface="Montserrat Black"/>
              </a:rPr>
              <a:t>Работа программы на практике</a:t>
            </a:r>
            <a:endParaRPr sz="1800"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95" name="Google Shape;95;p18"/>
          <p:cNvSpPr txBox="1"/>
          <p:nvPr/>
        </p:nvSpPr>
        <p:spPr>
          <a:xfrm>
            <a:off x="2342500" y="421250"/>
            <a:ext cx="68016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600">
                <a:solidFill>
                  <a:schemeClr val="dk2"/>
                </a:solidFill>
                <a:latin typeface="Comfortaa"/>
                <a:ea typeface="Comfortaa"/>
                <a:cs typeface="Comfortaa"/>
                <a:sym typeface="Comfortaa"/>
              </a:rPr>
              <a:t>Сначала программа запрашивает у пользователя номер функции. На нашем примере - это 1.</a:t>
            </a:r>
            <a:endParaRPr b="1" sz="1600">
              <a:solidFill>
                <a:schemeClr val="dk2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2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600">
                <a:solidFill>
                  <a:schemeClr val="dk2"/>
                </a:solidFill>
                <a:latin typeface="Comfortaa"/>
                <a:ea typeface="Comfortaa"/>
                <a:cs typeface="Comfortaa"/>
                <a:sym typeface="Comfortaa"/>
              </a:rPr>
              <a:t>Далее она запрашивает 2 числа. Пусть это будут 3,4 и 5.5.</a:t>
            </a:r>
            <a:endParaRPr b="1" sz="1600">
              <a:solidFill>
                <a:schemeClr val="dk2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2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600">
                <a:solidFill>
                  <a:schemeClr val="dk2"/>
                </a:solidFill>
                <a:latin typeface="Comfortaa"/>
                <a:ea typeface="Comfortaa"/>
                <a:cs typeface="Comfortaa"/>
                <a:sym typeface="Comfortaa"/>
              </a:rPr>
              <a:t>Последнее - программа запрашивает операцию. Пусть это будет Вычитание (2).</a:t>
            </a:r>
            <a:endParaRPr b="1" sz="1600">
              <a:solidFill>
                <a:schemeClr val="dk2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chemeClr val="dk2"/>
              </a:solidFill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600">
                <a:solidFill>
                  <a:schemeClr val="dk2"/>
                </a:solidFill>
                <a:latin typeface="Comfortaa"/>
                <a:ea typeface="Comfortaa"/>
                <a:cs typeface="Comfortaa"/>
                <a:sym typeface="Comfortaa"/>
              </a:rPr>
              <a:t>Далее идёт ответ: 3.4-5.5=-2.1</a:t>
            </a:r>
            <a:endParaRPr b="1" sz="1600">
              <a:solidFill>
                <a:schemeClr val="dk2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96" name="Google Shape;9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72701"/>
            <a:ext cx="2394400" cy="428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9"/>
          <p:cNvSpPr txBox="1"/>
          <p:nvPr>
            <p:ph type="title"/>
          </p:nvPr>
        </p:nvSpPr>
        <p:spPr>
          <a:xfrm>
            <a:off x="2923500" y="0"/>
            <a:ext cx="3297000" cy="4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latin typeface="Montserrat Black"/>
                <a:ea typeface="Montserrat Black"/>
                <a:cs typeface="Montserrat Black"/>
                <a:sym typeface="Montserrat Black"/>
              </a:rPr>
              <a:t>Проблемы при разработке</a:t>
            </a:r>
            <a:endParaRPr sz="1800"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02" name="Google Shape;102;p19"/>
          <p:cNvSpPr txBox="1"/>
          <p:nvPr>
            <p:ph idx="1" type="body"/>
          </p:nvPr>
        </p:nvSpPr>
        <p:spPr>
          <a:xfrm>
            <a:off x="0" y="411300"/>
            <a:ext cx="9144000" cy="3313200"/>
          </a:xfrm>
          <a:prstGeom prst="rect">
            <a:avLst/>
          </a:prstGeom>
          <a:ln cap="flat" cmpd="sng" w="28575">
            <a:solidFill>
              <a:srgbClr val="00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При разработке проекта я столкнулся с большим количеством проблем: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Font typeface="Comfortaa"/>
              <a:buChar char="-"/>
            </a:pPr>
            <a:r>
              <a:rPr lang="ru">
                <a:latin typeface="Comfortaa"/>
                <a:ea typeface="Comfortaa"/>
                <a:cs typeface="Comfortaa"/>
                <a:sym typeface="Comfortaa"/>
              </a:rPr>
              <a:t>Вывод</a:t>
            </a: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 не происходит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Comfortaa"/>
              <a:buChar char="-"/>
            </a:pPr>
            <a:r>
              <a:rPr lang="ru">
                <a:latin typeface="Comfortaa"/>
                <a:ea typeface="Comfortaa"/>
                <a:cs typeface="Comfortaa"/>
                <a:sym typeface="Comfortaa"/>
              </a:rPr>
              <a:t>Вывод</a:t>
            </a: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 происходит, но бредовый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Comfortaa"/>
              <a:buChar char="-"/>
            </a:pP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Программа постоянно </a:t>
            </a:r>
            <a:r>
              <a:rPr lang="ru">
                <a:latin typeface="Comfortaa"/>
                <a:ea typeface="Comfortaa"/>
                <a:cs typeface="Comfortaa"/>
                <a:sym typeface="Comfortaa"/>
              </a:rPr>
              <a:t>выдаёт ошибку</a:t>
            </a: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, хотя вроде-бы всё хорошо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Font typeface="Comfortaa"/>
              <a:buChar char="-"/>
            </a:pP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Бесконечные </a:t>
            </a:r>
            <a:r>
              <a:rPr lang="ru">
                <a:latin typeface="Comfortaa"/>
                <a:ea typeface="Comfortaa"/>
                <a:cs typeface="Comfortaa"/>
                <a:sym typeface="Comfortaa"/>
              </a:rPr>
              <a:t>баги</a:t>
            </a:r>
            <a:endParaRPr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Для решения двух первых проблем я использовал промежуточные выводы, а для решения последней тщательно и часто проводил </a:t>
            </a:r>
            <a:r>
              <a:rPr lang="ru">
                <a:latin typeface="Comfortaa"/>
                <a:ea typeface="Comfortaa"/>
                <a:cs typeface="Comfortaa"/>
                <a:sym typeface="Comfortaa"/>
              </a:rPr>
              <a:t>проверки на баги</a:t>
            </a: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.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19850" y="3467100"/>
            <a:ext cx="2724150" cy="167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2176850" y="0"/>
            <a:ext cx="4729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latin typeface="Montserrat Black"/>
                <a:ea typeface="Montserrat Black"/>
                <a:cs typeface="Montserrat Black"/>
                <a:sym typeface="Montserrat Black"/>
              </a:rPr>
              <a:t>Дальнейшее развитие программы</a:t>
            </a:r>
            <a:endParaRPr sz="1800"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0" y="497950"/>
            <a:ext cx="9144000" cy="1940700"/>
          </a:xfrm>
          <a:prstGeom prst="rect">
            <a:avLst/>
          </a:prstGeom>
          <a:ln cap="flat" cmpd="sng" w="28575">
            <a:solidFill>
              <a:srgbClr val="FF99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0000"/>
              <a:buFont typeface="Arial"/>
              <a:buNone/>
            </a:pPr>
            <a:r>
              <a:rPr b="1" lang="ru" sz="2200">
                <a:latin typeface="Comfortaa"/>
                <a:ea typeface="Comfortaa"/>
                <a:cs typeface="Comfortaa"/>
                <a:sym typeface="Comfortaa"/>
              </a:rPr>
              <a:t>Программу можно развивать до бесконечности - добавлять новые функции или дорабатывать существующие, но я считаю, что сейчас программа является завершённой промежуточной версией, и пользоваться ей - одно удовольствие. </a:t>
            </a:r>
            <a:endParaRPr b="1" sz="2200">
              <a:latin typeface="Comfortaa"/>
              <a:ea typeface="Comfortaa"/>
              <a:cs typeface="Comfortaa"/>
              <a:sym typeface="Comforta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50000"/>
              <a:buFont typeface="Arial"/>
              <a:buNone/>
            </a:pPr>
            <a:r>
              <a:rPr b="1" lang="ru" sz="2200">
                <a:latin typeface="Comfortaa"/>
                <a:ea typeface="Comfortaa"/>
                <a:cs typeface="Comfortaa"/>
                <a:sym typeface="Comfortaa"/>
              </a:rPr>
              <a:t>Но всё равно программа будет развиваться дальше.</a:t>
            </a:r>
            <a:endParaRPr b="1" sz="2600"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110" name="Google Shape;1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2865" y="2438650"/>
            <a:ext cx="3611135" cy="2704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073600" y="0"/>
            <a:ext cx="2972100" cy="46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latin typeface="Montserrat Black"/>
                <a:ea typeface="Montserrat Black"/>
                <a:cs typeface="Montserrat Black"/>
                <a:sym typeface="Montserrat Black"/>
              </a:rPr>
              <a:t>Спасибо за внимание</a:t>
            </a:r>
            <a:endParaRPr sz="1800"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16" name="Google Shape;116;p21"/>
          <p:cNvSpPr txBox="1"/>
          <p:nvPr>
            <p:ph idx="1" type="body"/>
          </p:nvPr>
        </p:nvSpPr>
        <p:spPr>
          <a:xfrm>
            <a:off x="0" y="562675"/>
            <a:ext cx="9144000" cy="2918100"/>
          </a:xfrm>
          <a:prstGeom prst="rect">
            <a:avLst/>
          </a:prstGeom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ru">
                <a:latin typeface="Comfortaa"/>
                <a:ea typeface="Comfortaa"/>
                <a:cs typeface="Comfortaa"/>
                <a:sym typeface="Comfortaa"/>
              </a:rPr>
              <a:t>Презентация подошла к концу. </a:t>
            </a:r>
            <a:endParaRPr b="1"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117" name="Google Shape;117;p21" title="qr-cod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900" y="1056900"/>
            <a:ext cx="2366151" cy="2366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 txBox="1"/>
          <p:nvPr/>
        </p:nvSpPr>
        <p:spPr>
          <a:xfrm>
            <a:off x="3787300" y="2423875"/>
            <a:ext cx="2972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19" name="Google Shape;119;p21"/>
          <p:cNvSpPr txBox="1"/>
          <p:nvPr/>
        </p:nvSpPr>
        <p:spPr>
          <a:xfrm>
            <a:off x="2475675" y="1790875"/>
            <a:ext cx="5099100" cy="461700"/>
          </a:xfrm>
          <a:prstGeom prst="rect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omfortaa"/>
              <a:buChar char="-"/>
            </a:pPr>
            <a:r>
              <a:rPr b="1" lang="ru" sz="1800">
                <a:solidFill>
                  <a:schemeClr val="dk2"/>
                </a:solidFill>
                <a:latin typeface="Comfortaa"/>
                <a:ea typeface="Comfortaa"/>
                <a:cs typeface="Comfortaa"/>
                <a:sym typeface="Comfortaa"/>
              </a:rPr>
              <a:t>QR-код на репозиторий на GitHub</a:t>
            </a:r>
            <a:endParaRPr b="1" sz="1800">
              <a:solidFill>
                <a:schemeClr val="dk2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  <p:pic>
        <p:nvPicPr>
          <p:cNvPr id="120" name="Google Shape;12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81769" y="3480775"/>
            <a:ext cx="3162229" cy="1662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