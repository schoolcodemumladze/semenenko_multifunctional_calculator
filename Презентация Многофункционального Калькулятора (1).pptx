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Comfortaa SemiBold"/>
      <p:regular r:id="rId15"/>
      <p:bold r:id="rId16"/>
    </p:embeddedFont>
    <p:embeddedFont>
      <p:font typeface="Montserrat Black"/>
      <p:bold r:id="rId17"/>
      <p:boldItalic r:id="rId18"/>
    </p:embeddedFont>
    <p:embeddedFont>
      <p:font typeface="Comfortaa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mfortaa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omfortaaSemiBold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Black-bold.fntdata"/><Relationship Id="rId16" Type="http://schemas.openxmlformats.org/officeDocument/2006/relationships/font" Target="fonts/ComfortaaSemiBold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Comfortaa-regular.fntdata"/><Relationship Id="rId6" Type="http://schemas.openxmlformats.org/officeDocument/2006/relationships/slide" Target="slides/slide1.xml"/><Relationship Id="rId18" Type="http://schemas.openxmlformats.org/officeDocument/2006/relationships/font" Target="fonts/MontserratBlack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2efe01e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2efe01e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52d6706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52d6706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652d6706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652d6706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652d6706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652d6706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652d6706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652d6706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652d6706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652d6706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652d6706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652d6706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652d6706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652d6706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73900" y="583850"/>
            <a:ext cx="8971500" cy="3948000"/>
          </a:xfrm>
          <a:prstGeom prst="rect">
            <a:avLst/>
          </a:prstGeom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ransition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jpg"/><Relationship Id="rId4" Type="http://schemas.openxmlformats.org/officeDocument/2006/relationships/image" Target="../media/image10.png"/><Relationship Id="rId5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0500" y="0"/>
            <a:ext cx="5143502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4925" y="0"/>
            <a:ext cx="2685950" cy="249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24925" y="2457550"/>
            <a:ext cx="2685950" cy="268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193799" y="66525"/>
            <a:ext cx="2756400" cy="4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ru" sz="2400">
                <a:latin typeface="Montserrat Black"/>
                <a:ea typeface="Montserrat Black"/>
                <a:cs typeface="Montserrat Black"/>
                <a:sym typeface="Montserrat Black"/>
              </a:rPr>
              <a:t>Знакомство</a:t>
            </a:r>
            <a:endParaRPr sz="2400"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-75" y="509925"/>
            <a:ext cx="9144000" cy="26013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latin typeface="Comfortaa"/>
                <a:ea typeface="Comfortaa"/>
                <a:cs typeface="Comfortaa"/>
                <a:sym typeface="Comfortaa"/>
              </a:rPr>
              <a:t>Меня зовут </a:t>
            </a:r>
            <a:r>
              <a:rPr lang="ru" sz="2400">
                <a:latin typeface="Comfortaa"/>
                <a:ea typeface="Comfortaa"/>
                <a:cs typeface="Comfortaa"/>
                <a:sym typeface="Comfortaa"/>
              </a:rPr>
              <a:t>Семененко Савелий Витальевич.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latin typeface="Comfortaa"/>
                <a:ea typeface="Comfortaa"/>
                <a:cs typeface="Comfortaa"/>
                <a:sym typeface="Comfortaa"/>
              </a:rPr>
              <a:t>Я разрабатываю проект с незамудрёным названием - </a:t>
            </a:r>
            <a:endParaRPr b="1" sz="24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latin typeface="Comfortaa"/>
                <a:ea typeface="Comfortaa"/>
                <a:cs typeface="Comfortaa"/>
                <a:sym typeface="Comfortaa"/>
              </a:rPr>
              <a:t>Многофункциональный Калькулятор</a:t>
            </a:r>
            <a:r>
              <a:rPr b="1" lang="ru" sz="2400">
                <a:latin typeface="Comfortaa"/>
                <a:ea typeface="Comfortaa"/>
                <a:cs typeface="Comfortaa"/>
                <a:sym typeface="Comfortaa"/>
              </a:rPr>
              <a:t>.</a:t>
            </a:r>
            <a:endParaRPr b="1" sz="24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latin typeface="Comfortaa"/>
                <a:ea typeface="Comfortaa"/>
                <a:cs typeface="Comfortaa"/>
                <a:sym typeface="Comfortaa"/>
              </a:rPr>
              <a:t>Мне 12 лет.</a:t>
            </a:r>
            <a:endParaRPr b="1" sz="24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1651" y="3111225"/>
            <a:ext cx="2032275" cy="203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97400" y="0"/>
            <a:ext cx="2749200" cy="6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400">
                <a:latin typeface="Montserrat Black"/>
                <a:ea typeface="Montserrat Black"/>
                <a:cs typeface="Montserrat Black"/>
                <a:sym typeface="Montserrat Black"/>
              </a:rPr>
              <a:t>Цели проекта</a:t>
            </a:r>
            <a:endParaRPr sz="2400"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0" y="525825"/>
            <a:ext cx="9144000" cy="2676000"/>
          </a:xfrm>
          <a:prstGeom prst="rect">
            <a:avLst/>
          </a:prstGeom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Comfortaa"/>
                <a:ea typeface="Comfortaa"/>
                <a:cs typeface="Comfortaa"/>
                <a:sym typeface="Comfortaa"/>
              </a:rPr>
              <a:t>Цели проекта: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Comfortaa"/>
              <a:buChar char="-"/>
            </a:pPr>
            <a:r>
              <a:rPr b="1" lang="ru">
                <a:latin typeface="Comfortaa"/>
                <a:ea typeface="Comfortaa"/>
                <a:cs typeface="Comfortaa"/>
                <a:sym typeface="Comfortaa"/>
              </a:rPr>
              <a:t>Написать как можно больше полезных функций и собрать их в одной программе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Char char="-"/>
            </a:pPr>
            <a:r>
              <a:rPr b="1" lang="ru">
                <a:latin typeface="Comfortaa"/>
                <a:ea typeface="Comfortaa"/>
                <a:cs typeface="Comfortaa"/>
                <a:sym typeface="Comfortaa"/>
              </a:rPr>
              <a:t>Показать возможности </a:t>
            </a:r>
            <a:r>
              <a:rPr lang="ru">
                <a:latin typeface="Comfortaa"/>
                <a:ea typeface="Comfortaa"/>
                <a:cs typeface="Comfortaa"/>
                <a:sym typeface="Comfortaa"/>
              </a:rPr>
              <a:t>Python </a:t>
            </a:r>
            <a:r>
              <a:rPr b="1" lang="ru">
                <a:latin typeface="Comfortaa"/>
                <a:ea typeface="Comfortaa"/>
                <a:cs typeface="Comfortaa"/>
                <a:sym typeface="Comfortaa"/>
              </a:rPr>
              <a:t>в работе с числами и текстом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>
                <a:latin typeface="Comfortaa"/>
                <a:ea typeface="Comfortaa"/>
                <a:cs typeface="Comfortaa"/>
                <a:sym typeface="Comfortaa"/>
              </a:rPr>
              <a:t>Программа может применяться в самых различных случаях, например, решить часть ДЗ или помочь в работе взрослых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2325" y="3201825"/>
            <a:ext cx="1941676" cy="1941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1412875" y="0"/>
            <a:ext cx="6235800" cy="5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Black"/>
                <a:ea typeface="Montserrat Black"/>
                <a:cs typeface="Montserrat Black"/>
                <a:sym typeface="Montserrat Black"/>
              </a:rPr>
              <a:t>Python и Многофункциональный Калькулятор</a:t>
            </a:r>
            <a:endParaRPr sz="1800"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25" y="506725"/>
            <a:ext cx="9144000" cy="2545500"/>
          </a:xfrm>
          <a:prstGeom prst="rect">
            <a:avLst/>
          </a:prstGeom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Comfortaa"/>
                <a:ea typeface="Comfortaa"/>
                <a:cs typeface="Comfortaa"/>
                <a:sym typeface="Comfortaa"/>
              </a:rPr>
              <a:t>Для написания программы были использованы многие инструменты </a:t>
            </a:r>
            <a:r>
              <a:rPr lang="ru">
                <a:latin typeface="Comfortaa"/>
                <a:ea typeface="Comfortaa"/>
                <a:cs typeface="Comfortaa"/>
                <a:sym typeface="Comfortaa"/>
              </a:rPr>
              <a:t>Python</a:t>
            </a:r>
            <a:r>
              <a:rPr b="1" lang="ru">
                <a:latin typeface="Comfortaa"/>
                <a:ea typeface="Comfortaa"/>
                <a:cs typeface="Comfortaa"/>
                <a:sym typeface="Comfortaa"/>
              </a:rPr>
              <a:t>, например: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Comfortaa"/>
              <a:buChar char="-"/>
            </a:pPr>
            <a:r>
              <a:rPr lang="ru">
                <a:latin typeface="Comfortaa"/>
                <a:ea typeface="Comfortaa"/>
                <a:cs typeface="Comfortaa"/>
                <a:sym typeface="Comfortaa"/>
              </a:rPr>
              <a:t>def()</a:t>
            </a:r>
            <a:r>
              <a:rPr b="1" lang="ru">
                <a:latin typeface="Comfortaa"/>
                <a:ea typeface="Comfortaa"/>
                <a:cs typeface="Comfortaa"/>
                <a:sym typeface="Comfortaa"/>
              </a:rPr>
              <a:t> для отделения функций в коде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Char char="-"/>
            </a:pPr>
            <a:r>
              <a:rPr b="1" lang="ru">
                <a:latin typeface="Comfortaa"/>
                <a:ea typeface="Comfortaa"/>
                <a:cs typeface="Comfortaa"/>
                <a:sym typeface="Comfortaa"/>
              </a:rPr>
              <a:t>оператор </a:t>
            </a:r>
            <a:r>
              <a:rPr lang="ru">
                <a:latin typeface="Comfortaa"/>
                <a:ea typeface="Comfortaa"/>
                <a:cs typeface="Comfortaa"/>
                <a:sym typeface="Comfortaa"/>
              </a:rPr>
              <a:t>if</a:t>
            </a:r>
            <a:r>
              <a:rPr b="1" lang="ru">
                <a:latin typeface="Comfortaa"/>
                <a:ea typeface="Comfortaa"/>
                <a:cs typeface="Comfortaa"/>
                <a:sym typeface="Comfortaa"/>
              </a:rPr>
              <a:t> для написания разных операций в основных функциях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Char char="-"/>
            </a:pPr>
            <a:r>
              <a:rPr b="1" lang="ru">
                <a:latin typeface="Comfortaa"/>
                <a:ea typeface="Comfortaa"/>
                <a:cs typeface="Comfortaa"/>
                <a:sym typeface="Comfortaa"/>
              </a:rPr>
              <a:t>библиотеки </a:t>
            </a:r>
            <a:r>
              <a:rPr lang="ru">
                <a:latin typeface="Comfortaa"/>
                <a:ea typeface="Comfortaa"/>
                <a:cs typeface="Comfortaa"/>
                <a:sym typeface="Comfortaa"/>
              </a:rPr>
              <a:t>math </a:t>
            </a:r>
            <a:r>
              <a:rPr b="1" lang="ru">
                <a:latin typeface="Comfortaa"/>
                <a:ea typeface="Comfortaa"/>
                <a:cs typeface="Comfortaa"/>
                <a:sym typeface="Comfortaa"/>
              </a:rPr>
              <a:t>и </a:t>
            </a:r>
            <a:r>
              <a:rPr lang="ru">
                <a:latin typeface="Comfortaa"/>
                <a:ea typeface="Comfortaa"/>
                <a:cs typeface="Comfortaa"/>
                <a:sym typeface="Comfortaa"/>
              </a:rPr>
              <a:t>random </a:t>
            </a:r>
            <a:r>
              <a:rPr b="1" lang="ru">
                <a:latin typeface="Comfortaa"/>
                <a:ea typeface="Comfortaa"/>
                <a:cs typeface="Comfortaa"/>
                <a:sym typeface="Comfortaa"/>
              </a:rPr>
              <a:t>для отдельных функций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Char char="-"/>
            </a:pPr>
            <a:r>
              <a:rPr b="1" lang="ru">
                <a:latin typeface="Comfortaa"/>
                <a:ea typeface="Comfortaa"/>
                <a:cs typeface="Comfortaa"/>
                <a:sym typeface="Comfortaa"/>
              </a:rPr>
              <a:t>базовые функции (</a:t>
            </a:r>
            <a:r>
              <a:rPr lang="ru">
                <a:latin typeface="Comfortaa"/>
                <a:ea typeface="Comfortaa"/>
                <a:cs typeface="Comfortaa"/>
                <a:sym typeface="Comfortaa"/>
              </a:rPr>
              <a:t>input()</a:t>
            </a:r>
            <a:r>
              <a:rPr b="1" lang="ru">
                <a:latin typeface="Comfortaa"/>
                <a:ea typeface="Comfortaa"/>
                <a:cs typeface="Comfortaa"/>
                <a:sym typeface="Comfortaa"/>
              </a:rPr>
              <a:t>, </a:t>
            </a:r>
            <a:r>
              <a:rPr lang="ru">
                <a:latin typeface="Comfortaa"/>
                <a:ea typeface="Comfortaa"/>
                <a:cs typeface="Comfortaa"/>
                <a:sym typeface="Comfortaa"/>
              </a:rPr>
              <a:t>print()</a:t>
            </a:r>
            <a:r>
              <a:rPr b="1" lang="ru">
                <a:latin typeface="Comfortaa"/>
                <a:ea typeface="Comfortaa"/>
                <a:cs typeface="Comfortaa"/>
                <a:sym typeface="Comfortaa"/>
              </a:rPr>
              <a:t> и т.д.)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Char char="-"/>
            </a:pPr>
            <a:r>
              <a:rPr b="1" lang="ru">
                <a:latin typeface="Comfortaa"/>
                <a:ea typeface="Comfortaa"/>
                <a:cs typeface="Comfortaa"/>
                <a:sym typeface="Comfortaa"/>
              </a:rPr>
              <a:t>и ещё много всего :)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2725" y="3052225"/>
            <a:ext cx="2091275" cy="209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2720850" y="-59100"/>
            <a:ext cx="3702300" cy="4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Black"/>
                <a:ea typeface="Montserrat Black"/>
                <a:cs typeface="Montserrat Black"/>
                <a:sym typeface="Montserrat Black"/>
              </a:rPr>
              <a:t>Примеры кода программы</a:t>
            </a:r>
            <a:endParaRPr sz="1800"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2902900" y="342800"/>
            <a:ext cx="5521800" cy="603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lang="ru" sz="1400">
                <a:latin typeface="Comfortaa SemiBold"/>
                <a:ea typeface="Comfortaa SemiBold"/>
                <a:cs typeface="Comfortaa SemiBold"/>
                <a:sym typeface="Comfortaa SemiBold"/>
              </a:rPr>
              <a:t>Функция Операции с числами (1). Базовая функция для проекта</a:t>
            </a:r>
            <a:endParaRPr sz="1400">
              <a:latin typeface="Comfortaa SemiBold"/>
              <a:ea typeface="Comfortaa SemiBold"/>
              <a:cs typeface="Comfortaa SemiBold"/>
              <a:sym typeface="Comfortaa SemiBold"/>
            </a:endParaRPr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42800"/>
            <a:ext cx="2902899" cy="350402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/>
        </p:nvSpPr>
        <p:spPr>
          <a:xfrm>
            <a:off x="0" y="4804800"/>
            <a:ext cx="415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4850" y="1071713"/>
            <a:ext cx="3599725" cy="3696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6591950" y="946100"/>
            <a:ext cx="2552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2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Функция Вычисление длины строки (5), </a:t>
            </a:r>
            <a:r>
              <a:rPr b="1" lang="ru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самая короткая</a:t>
            </a:r>
            <a:endParaRPr b="1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84850" y="2179500"/>
            <a:ext cx="3959700" cy="296399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/>
          <p:nvPr/>
        </p:nvSpPr>
        <p:spPr>
          <a:xfrm>
            <a:off x="6944550" y="2076025"/>
            <a:ext cx="20547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Функция Операции с дробями (13). </a:t>
            </a:r>
            <a:endParaRPr>
              <a:solidFill>
                <a:schemeClr val="dk2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Является самой длинной, насчитывает 40 строк кода</a:t>
            </a:r>
            <a:endParaRPr>
              <a:solidFill>
                <a:schemeClr val="dk2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2312950" y="0"/>
            <a:ext cx="430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Black"/>
                <a:ea typeface="Montserrat Black"/>
                <a:cs typeface="Montserrat Black"/>
                <a:sym typeface="Montserrat Black"/>
              </a:rPr>
              <a:t>Работа программы на практике</a:t>
            </a:r>
            <a:endParaRPr sz="1800"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2342500" y="421250"/>
            <a:ext cx="68016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Сначала программа запрашивает у пользователя номер функции. На нашем примере - это </a:t>
            </a:r>
            <a:r>
              <a:rPr lang="ru" sz="16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1</a:t>
            </a:r>
            <a:r>
              <a:rPr b="1" lang="ru" sz="16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.</a:t>
            </a:r>
            <a:endParaRPr b="1" sz="16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Далее она запрашивает 2 числа. Пусть это будут </a:t>
            </a:r>
            <a:r>
              <a:rPr lang="ru" sz="16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3,4</a:t>
            </a:r>
            <a:r>
              <a:rPr b="1" lang="ru" sz="16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 и </a:t>
            </a:r>
            <a:r>
              <a:rPr lang="ru" sz="16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5.5</a:t>
            </a:r>
            <a:r>
              <a:rPr b="1" lang="ru" sz="16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.</a:t>
            </a:r>
            <a:endParaRPr b="1" sz="16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Последнее - программа запрашивает операцию. Пусть это будет </a:t>
            </a:r>
            <a:r>
              <a:rPr lang="ru" sz="16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Вычитание (2)</a:t>
            </a:r>
            <a:r>
              <a:rPr b="1" lang="ru" sz="16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.</a:t>
            </a:r>
            <a:endParaRPr b="1" sz="16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Далее идёт ответ: </a:t>
            </a:r>
            <a:r>
              <a:rPr lang="ru" sz="16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3.4-5.5=-2.1</a:t>
            </a:r>
            <a:endParaRPr sz="16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72701"/>
            <a:ext cx="2394400" cy="428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2923500" y="0"/>
            <a:ext cx="32970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Black"/>
                <a:ea typeface="Montserrat Black"/>
                <a:cs typeface="Montserrat Black"/>
                <a:sym typeface="Montserrat Black"/>
              </a:rPr>
              <a:t>Проблемы при разработке</a:t>
            </a:r>
            <a:endParaRPr sz="1800"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0" y="411300"/>
            <a:ext cx="9144000" cy="3313200"/>
          </a:xfrm>
          <a:prstGeom prst="rect">
            <a:avLst/>
          </a:prstGeom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Comfortaa"/>
                <a:ea typeface="Comfortaa"/>
                <a:cs typeface="Comfortaa"/>
                <a:sym typeface="Comfortaa"/>
              </a:rPr>
              <a:t>При разработке проекта я столкнулся с большим количеством проблем: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Comfortaa"/>
              <a:buChar char="-"/>
            </a:pPr>
            <a:r>
              <a:rPr lang="ru">
                <a:latin typeface="Comfortaa"/>
                <a:ea typeface="Comfortaa"/>
                <a:cs typeface="Comfortaa"/>
                <a:sym typeface="Comfortaa"/>
              </a:rPr>
              <a:t>Вывод</a:t>
            </a:r>
            <a:r>
              <a:rPr b="1" lang="ru">
                <a:latin typeface="Comfortaa"/>
                <a:ea typeface="Comfortaa"/>
                <a:cs typeface="Comfortaa"/>
                <a:sym typeface="Comfortaa"/>
              </a:rPr>
              <a:t> не происходит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Char char="-"/>
            </a:pPr>
            <a:r>
              <a:rPr lang="ru">
                <a:latin typeface="Comfortaa"/>
                <a:ea typeface="Comfortaa"/>
                <a:cs typeface="Comfortaa"/>
                <a:sym typeface="Comfortaa"/>
              </a:rPr>
              <a:t>Вывод</a:t>
            </a:r>
            <a:r>
              <a:rPr b="1" lang="ru">
                <a:latin typeface="Comfortaa"/>
                <a:ea typeface="Comfortaa"/>
                <a:cs typeface="Comfortaa"/>
                <a:sym typeface="Comfortaa"/>
              </a:rPr>
              <a:t> происходит, но бредовый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Char char="-"/>
            </a:pPr>
            <a:r>
              <a:rPr b="1" lang="ru">
                <a:latin typeface="Comfortaa"/>
                <a:ea typeface="Comfortaa"/>
                <a:cs typeface="Comfortaa"/>
                <a:sym typeface="Comfortaa"/>
              </a:rPr>
              <a:t>Программа постоянно </a:t>
            </a:r>
            <a:r>
              <a:rPr lang="ru">
                <a:latin typeface="Comfortaa"/>
                <a:ea typeface="Comfortaa"/>
                <a:cs typeface="Comfortaa"/>
                <a:sym typeface="Comfortaa"/>
              </a:rPr>
              <a:t>выдаёт ошибку</a:t>
            </a:r>
            <a:r>
              <a:rPr b="1" lang="ru">
                <a:latin typeface="Comfortaa"/>
                <a:ea typeface="Comfortaa"/>
                <a:cs typeface="Comfortaa"/>
                <a:sym typeface="Comfortaa"/>
              </a:rPr>
              <a:t>, хотя вроде-бы всё хорошо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Char char="-"/>
            </a:pPr>
            <a:r>
              <a:rPr b="1" lang="ru">
                <a:latin typeface="Comfortaa"/>
                <a:ea typeface="Comfortaa"/>
                <a:cs typeface="Comfortaa"/>
                <a:sym typeface="Comfortaa"/>
              </a:rPr>
              <a:t>Бесконечные </a:t>
            </a:r>
            <a:r>
              <a:rPr lang="ru">
                <a:latin typeface="Comfortaa"/>
                <a:ea typeface="Comfortaa"/>
                <a:cs typeface="Comfortaa"/>
                <a:sym typeface="Comfortaa"/>
              </a:rPr>
              <a:t>баги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>
                <a:latin typeface="Comfortaa"/>
                <a:ea typeface="Comfortaa"/>
                <a:cs typeface="Comfortaa"/>
                <a:sym typeface="Comfortaa"/>
              </a:rPr>
              <a:t>Для решения двух первых проблем я использовал промежуточные выводы, а для решения последней тщательно и часто проводил </a:t>
            </a:r>
            <a:r>
              <a:rPr lang="ru">
                <a:latin typeface="Comfortaa"/>
                <a:ea typeface="Comfortaa"/>
                <a:cs typeface="Comfortaa"/>
                <a:sym typeface="Comfortaa"/>
              </a:rPr>
              <a:t>проверки на баги</a:t>
            </a:r>
            <a:r>
              <a:rPr b="1" lang="ru">
                <a:latin typeface="Comfortaa"/>
                <a:ea typeface="Comfortaa"/>
                <a:cs typeface="Comfortaa"/>
                <a:sym typeface="Comfortaa"/>
              </a:rPr>
              <a:t>.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03" name="Google Shape;10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9850" y="3467100"/>
            <a:ext cx="2724150" cy="16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2176850" y="0"/>
            <a:ext cx="472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Black"/>
                <a:ea typeface="Montserrat Black"/>
                <a:cs typeface="Montserrat Black"/>
                <a:sym typeface="Montserrat Black"/>
              </a:rPr>
              <a:t>Дальнейшее развитие программы</a:t>
            </a:r>
            <a:endParaRPr sz="1800"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0" y="497950"/>
            <a:ext cx="9144000" cy="2661900"/>
          </a:xfrm>
          <a:prstGeom prst="rect">
            <a:avLst/>
          </a:prstGeom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ru" sz="2200">
                <a:latin typeface="Comfortaa"/>
                <a:ea typeface="Comfortaa"/>
                <a:cs typeface="Comfortaa"/>
                <a:sym typeface="Comfortaa"/>
              </a:rPr>
              <a:t>Программу можно развивать до бесконечности. </a:t>
            </a:r>
            <a:endParaRPr b="1"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ru" sz="2200">
                <a:latin typeface="Comfortaa"/>
                <a:ea typeface="Comfortaa"/>
                <a:cs typeface="Comfortaa"/>
                <a:sym typeface="Comfortaa"/>
              </a:rPr>
              <a:t>Вот как можно её улучшить:</a:t>
            </a:r>
            <a:endParaRPr b="1" sz="2200">
              <a:latin typeface="Comfortaa"/>
              <a:ea typeface="Comfortaa"/>
              <a:cs typeface="Comfortaa"/>
              <a:sym typeface="Comfortaa"/>
            </a:endParaRPr>
          </a:p>
          <a:p>
            <a:pPr indent="-347345" lvl="0" marL="457200" rtl="0" algn="l">
              <a:spcBef>
                <a:spcPts val="1200"/>
              </a:spcBef>
              <a:spcAft>
                <a:spcPts val="0"/>
              </a:spcAft>
              <a:buSzPct val="84615"/>
              <a:buFont typeface="Comfortaa"/>
              <a:buChar char="-"/>
            </a:pPr>
            <a:r>
              <a:rPr b="1" lang="ru" sz="2600">
                <a:latin typeface="Comfortaa"/>
                <a:ea typeface="Comfortaa"/>
                <a:cs typeface="Comfortaa"/>
                <a:sym typeface="Comfortaa"/>
              </a:rPr>
              <a:t>Добавить везде проверки на то, является ли </a:t>
            </a:r>
            <a:r>
              <a:rPr lang="ru" sz="2600">
                <a:latin typeface="Comfortaa"/>
                <a:ea typeface="Comfortaa"/>
                <a:cs typeface="Comfortaa"/>
                <a:sym typeface="Comfortaa"/>
              </a:rPr>
              <a:t>ввод пользователя</a:t>
            </a:r>
            <a:r>
              <a:rPr b="1" lang="ru" sz="2600">
                <a:latin typeface="Comfortaa"/>
                <a:ea typeface="Comfortaa"/>
                <a:cs typeface="Comfortaa"/>
                <a:sym typeface="Comfortaa"/>
              </a:rPr>
              <a:t> верным</a:t>
            </a:r>
            <a:endParaRPr b="1" sz="2600">
              <a:latin typeface="Comfortaa"/>
              <a:ea typeface="Comfortaa"/>
              <a:cs typeface="Comfortaa"/>
              <a:sym typeface="Comfortaa"/>
            </a:endParaRPr>
          </a:p>
          <a:p>
            <a:pPr indent="-36893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Char char="-"/>
            </a:pPr>
            <a:r>
              <a:rPr b="1" lang="ru" sz="2600">
                <a:latin typeface="Comfortaa"/>
                <a:ea typeface="Comfortaa"/>
                <a:cs typeface="Comfortaa"/>
                <a:sym typeface="Comfortaa"/>
              </a:rPr>
              <a:t>Создать </a:t>
            </a:r>
            <a:r>
              <a:rPr lang="ru" sz="2600">
                <a:latin typeface="Comfortaa"/>
                <a:ea typeface="Comfortaa"/>
                <a:cs typeface="Comfortaa"/>
                <a:sym typeface="Comfortaa"/>
              </a:rPr>
              <a:t>специальную небольшую версию</a:t>
            </a:r>
            <a:r>
              <a:rPr b="1" lang="ru" sz="2600">
                <a:latin typeface="Comfortaa"/>
                <a:ea typeface="Comfortaa"/>
                <a:cs typeface="Comfortaa"/>
                <a:sym typeface="Comfortaa"/>
              </a:rPr>
              <a:t> программы, в которой останутся только самые нужные функции</a:t>
            </a:r>
            <a:endParaRPr b="1" sz="2600">
              <a:latin typeface="Comfortaa"/>
              <a:ea typeface="Comfortaa"/>
              <a:cs typeface="Comfortaa"/>
              <a:sym typeface="Comfortaa"/>
            </a:endParaRPr>
          </a:p>
          <a:p>
            <a:pPr indent="-36893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Char char="-"/>
            </a:pPr>
            <a:r>
              <a:rPr lang="ru" sz="2600">
                <a:latin typeface="Comfortaa"/>
                <a:ea typeface="Comfortaa"/>
                <a:cs typeface="Comfortaa"/>
                <a:sym typeface="Comfortaa"/>
              </a:rPr>
              <a:t>Добавлять новые/улучшать существующие</a:t>
            </a:r>
            <a:r>
              <a:rPr b="1" lang="ru" sz="2600">
                <a:latin typeface="Comfortaa"/>
                <a:ea typeface="Comfortaa"/>
                <a:cs typeface="Comfortaa"/>
                <a:sym typeface="Comfortaa"/>
              </a:rPr>
              <a:t> функции</a:t>
            </a:r>
            <a:endParaRPr b="1" sz="26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5875" y="3159975"/>
            <a:ext cx="2648125" cy="198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073600" y="0"/>
            <a:ext cx="29721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Montserrat Black"/>
                <a:ea typeface="Montserrat Black"/>
                <a:cs typeface="Montserrat Black"/>
                <a:sym typeface="Montserrat Black"/>
              </a:rPr>
              <a:t>Спасибо за внимание</a:t>
            </a:r>
            <a:endParaRPr sz="1800"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0" y="562675"/>
            <a:ext cx="9144000" cy="2918100"/>
          </a:xfrm>
          <a:prstGeom prst="rect">
            <a:avLst/>
          </a:prstGeom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>
                <a:latin typeface="Comfortaa"/>
                <a:ea typeface="Comfortaa"/>
                <a:cs typeface="Comfortaa"/>
                <a:sym typeface="Comfortaa"/>
              </a:rPr>
              <a:t>Презентация подошла к концу. 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17" name="Google Shape;117;p21" title="qr-co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14625"/>
            <a:ext cx="2366151" cy="2366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 txBox="1"/>
          <p:nvPr/>
        </p:nvSpPr>
        <p:spPr>
          <a:xfrm>
            <a:off x="2366150" y="2066850"/>
            <a:ext cx="5099100" cy="4617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mfortaa"/>
              <a:buChar char="-"/>
            </a:pPr>
            <a:r>
              <a:rPr lang="ru" sz="18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QR-код</a:t>
            </a:r>
            <a:r>
              <a:rPr b="1" lang="ru" sz="18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 на репозиторий на GitHub</a:t>
            </a:r>
            <a:endParaRPr b="1" sz="18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1769" y="3480775"/>
            <a:ext cx="3162229" cy="1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